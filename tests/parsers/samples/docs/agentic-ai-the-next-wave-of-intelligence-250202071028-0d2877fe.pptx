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Outfit Extra Bold"/>
      <p:regular r:id="rId15"/>
    </p:embeddedFont>
    <p:embeddedFont>
      <p:font typeface="Arimo"/>
      <p:regular r:id="rId16"/>
    </p:embeddedFont>
    <p:embeddedFont>
      <p:font typeface="Arimo"/>
      <p:regular r:id="rId17"/>
    </p:embeddedFont>
    <p:embeddedFont>
      <p:font typeface="Arimo"/>
      <p:regular r:id="rId18"/>
    </p:embeddedFont>
    <p:embeddedFont>
      <p:font typeface="Arimo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8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9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6553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Agentic AI: The Next Wave of Intelligence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123253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This presentation explores the emerging field of agentic AI, its key characteristics, and potential to revolutionize how we interact with technology.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5484019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7810" y="5491639"/>
            <a:ext cx="347663" cy="3476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56440" y="5467112"/>
            <a:ext cx="2293739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by Mosiuoa Wesi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5850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What is Agentic AI?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Beyond Reactive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215408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Agentic AI goes beyond reactive AI, which simply responds to stimuli. It actively pursues goals and objectives, adapting its actions based on feedback and learning from experience.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634264"/>
            <a:ext cx="310241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Proactive and Adaptive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215408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Instead of passively waiting for instructions, agentic AI systems are proactive and adaptive. They can anticipate needs, generate solutions, and autonomously make decisions within defined parameters.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69355" y="790099"/>
            <a:ext cx="7578090" cy="1398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Key Characteristics of Agentic AI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269355" y="2775466"/>
            <a:ext cx="503277" cy="503277"/>
          </a:xfrm>
          <a:prstGeom prst="roundRect">
            <a:avLst>
              <a:gd name="adj" fmla="val 18670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55569" y="2859286"/>
            <a:ext cx="130850" cy="335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996351" y="2775466"/>
            <a:ext cx="2796421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Goal-Oriented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996351" y="3259217"/>
            <a:ext cx="2950250" cy="143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Agentic AI systems are designed with specific goals in mind, driving their actions and decisions.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70319" y="2775466"/>
            <a:ext cx="503277" cy="503277"/>
          </a:xfrm>
          <a:prstGeom prst="roundRect">
            <a:avLst>
              <a:gd name="adj" fmla="val 18670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25338" y="2859286"/>
            <a:ext cx="193238" cy="335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0897314" y="2775466"/>
            <a:ext cx="2796421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Autonomous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897314" y="3259217"/>
            <a:ext cx="2950250" cy="1789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They can operate independently, making decisions and taking actions without constant human intervention.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69355" y="5524024"/>
            <a:ext cx="503277" cy="503277"/>
          </a:xfrm>
          <a:prstGeom prst="roundRect">
            <a:avLst>
              <a:gd name="adj" fmla="val 18670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25565" y="5607844"/>
            <a:ext cx="190857" cy="335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6996351" y="5524024"/>
            <a:ext cx="2796421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Self-Learning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996351" y="6007775"/>
            <a:ext cx="2950250" cy="143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Agentic AI continuously learns and improves its performance based on data and feedback.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10170319" y="5524024"/>
            <a:ext cx="503277" cy="503277"/>
          </a:xfrm>
          <a:prstGeom prst="roundRect">
            <a:avLst>
              <a:gd name="adj" fmla="val 18670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319147" y="5607844"/>
            <a:ext cx="205621" cy="335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10897314" y="5524024"/>
            <a:ext cx="2924532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Contextual Awareness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0897314" y="6007775"/>
            <a:ext cx="2950250" cy="143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They can understand and adapt to changing contexts, making decisions based on real-time information.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88802"/>
            <a:ext cx="573666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Benefits of Agentic AI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1937742"/>
            <a:ext cx="3664863" cy="2410897"/>
          </a:xfrm>
          <a:prstGeom prst="roundRect">
            <a:avLst>
              <a:gd name="adj" fmla="val 3952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21721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Increased Efficiency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2662595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Agentic AI can automate tasks, optimize processes, and free up human resources for more strategic work.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1937742"/>
            <a:ext cx="3664863" cy="2410897"/>
          </a:xfrm>
          <a:prstGeom prst="roundRect">
            <a:avLst>
              <a:gd name="adj" fmla="val 3952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06301" y="2172176"/>
            <a:ext cx="299275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Enhanced Productivity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06301" y="2662595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By making intelligent decisions and taking proactive actions, agentic AI can boost productivity across industries.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4575453"/>
            <a:ext cx="3664863" cy="2765227"/>
          </a:xfrm>
          <a:prstGeom prst="roundRect">
            <a:avLst>
              <a:gd name="adj" fmla="val 3445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4624" y="4809887"/>
            <a:ext cx="319599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Improved Decision-Making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14624" y="5654635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Leveraging data analysis and predictive modeling, agentic AI can support better informed decision-making.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10171867" y="4575453"/>
            <a:ext cx="3664863" cy="2765227"/>
          </a:xfrm>
          <a:prstGeom prst="roundRect">
            <a:avLst>
              <a:gd name="adj" fmla="val 3445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406301" y="4809887"/>
            <a:ext cx="319599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Personalized Experiences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406301" y="5654635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Agentic AI can tailor experiences to individual needs and preferences, leading to greater customer satisfaction.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60902" y="610433"/>
            <a:ext cx="7594997" cy="1383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Agentic AI in Action: Use Cases and Examples</a:t>
            </a:r>
            <a:endParaRPr lang="en-US" sz="43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0902" y="2325291"/>
            <a:ext cx="553164" cy="55316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60902" y="3099673"/>
            <a:ext cx="2766179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Manufacturing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6260902" y="3578066"/>
            <a:ext cx="3631525" cy="1062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Automated production lines, predictive maintenance, and quality control.</a:t>
            </a:r>
            <a:endParaRPr lang="en-US" sz="17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4254" y="2325291"/>
            <a:ext cx="553164" cy="55316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224254" y="3099673"/>
            <a:ext cx="2766179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Healthcare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10224254" y="3578066"/>
            <a:ext cx="3631644" cy="708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Personalized treatment plans, drug discovery, and patient monitoring.</a:t>
            </a:r>
            <a:endParaRPr lang="en-US" sz="17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0902" y="5304115"/>
            <a:ext cx="553164" cy="55316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60902" y="6078498"/>
            <a:ext cx="2766179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Finance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6260902" y="6556891"/>
            <a:ext cx="3631525" cy="708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Fraud detection, algorithmic trading, and risk management.</a:t>
            </a:r>
            <a:endParaRPr lang="en-US" sz="17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4254" y="5304115"/>
            <a:ext cx="553164" cy="55316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224254" y="6078498"/>
            <a:ext cx="2766179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Education</a:t>
            </a:r>
            <a:endParaRPr lang="en-US" sz="2150" dirty="0"/>
          </a:p>
        </p:txBody>
      </p:sp>
      <p:sp>
        <p:nvSpPr>
          <p:cNvPr id="15" name="Text 8"/>
          <p:cNvSpPr/>
          <p:nvPr/>
        </p:nvSpPr>
        <p:spPr>
          <a:xfrm>
            <a:off x="10224254" y="6556891"/>
            <a:ext cx="3631644" cy="1062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Personalized learning, adaptive tutoring systems, and automated grading.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742355"/>
            <a:ext cx="6524387" cy="653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100"/>
              </a:lnSpc>
              <a:buNone/>
            </a:pPr>
            <a:r>
              <a:rPr lang="en-US" sz="41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Agentic AI Design Patterns</a:t>
            </a:r>
            <a:endParaRPr lang="en-US" sz="4100" dirty="0"/>
          </a:p>
        </p:txBody>
      </p:sp>
      <p:sp>
        <p:nvSpPr>
          <p:cNvPr id="4" name="Shape 1"/>
          <p:cNvSpPr/>
          <p:nvPr/>
        </p:nvSpPr>
        <p:spPr>
          <a:xfrm>
            <a:off x="1033582" y="1709023"/>
            <a:ext cx="22860" cy="5778103"/>
          </a:xfrm>
          <a:prstGeom prst="roundRect">
            <a:avLst>
              <a:gd name="adj" fmla="val 384030"/>
            </a:avLst>
          </a:prstGeom>
          <a:solidFill>
            <a:srgbClr val="BDB8DF"/>
          </a:solidFill>
          <a:ln/>
        </p:spPr>
      </p:sp>
      <p:sp>
        <p:nvSpPr>
          <p:cNvPr id="5" name="Shape 2"/>
          <p:cNvSpPr/>
          <p:nvPr/>
        </p:nvSpPr>
        <p:spPr>
          <a:xfrm>
            <a:off x="1257300" y="2167890"/>
            <a:ext cx="731520" cy="22860"/>
          </a:xfrm>
          <a:prstGeom prst="roundRect">
            <a:avLst>
              <a:gd name="adj" fmla="val 384030"/>
            </a:avLst>
          </a:prstGeom>
          <a:solidFill>
            <a:srgbClr val="BDB8DF"/>
          </a:solidFill>
          <a:ln/>
        </p:spPr>
      </p:sp>
      <p:sp>
        <p:nvSpPr>
          <p:cNvPr id="6" name="Shape 3"/>
          <p:cNvSpPr/>
          <p:nvPr/>
        </p:nvSpPr>
        <p:spPr>
          <a:xfrm>
            <a:off x="809863" y="1944172"/>
            <a:ext cx="470297" cy="470297"/>
          </a:xfrm>
          <a:prstGeom prst="roundRect">
            <a:avLst>
              <a:gd name="adj" fmla="val 18667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83813" y="2022515"/>
            <a:ext cx="122277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1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2194560" y="1917978"/>
            <a:ext cx="2612708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Goal Decomposition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2194560" y="2369820"/>
            <a:ext cx="6217920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Breaking down complex goals into smaller, achievable tasks.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257300" y="3581043"/>
            <a:ext cx="731520" cy="22860"/>
          </a:xfrm>
          <a:prstGeom prst="roundRect">
            <a:avLst>
              <a:gd name="adj" fmla="val 384030"/>
            </a:avLst>
          </a:prstGeom>
          <a:solidFill>
            <a:srgbClr val="BDB8DF"/>
          </a:solidFill>
          <a:ln/>
        </p:spPr>
      </p:sp>
      <p:sp>
        <p:nvSpPr>
          <p:cNvPr id="11" name="Shape 8"/>
          <p:cNvSpPr/>
          <p:nvPr/>
        </p:nvSpPr>
        <p:spPr>
          <a:xfrm>
            <a:off x="809863" y="3357324"/>
            <a:ext cx="470297" cy="470297"/>
          </a:xfrm>
          <a:prstGeom prst="roundRect">
            <a:avLst>
              <a:gd name="adj" fmla="val 18667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4643" y="3435668"/>
            <a:ext cx="180618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2</a:t>
            </a:r>
            <a:endParaRPr lang="en-US" sz="2450" dirty="0"/>
          </a:p>
        </p:txBody>
      </p:sp>
      <p:sp>
        <p:nvSpPr>
          <p:cNvPr id="13" name="Text 10"/>
          <p:cNvSpPr/>
          <p:nvPr/>
        </p:nvSpPr>
        <p:spPr>
          <a:xfrm>
            <a:off x="2194560" y="3331131"/>
            <a:ext cx="2952869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Reinforcement Learning</a:t>
            </a:r>
            <a:endParaRPr lang="en-US" sz="2050" dirty="0"/>
          </a:p>
        </p:txBody>
      </p:sp>
      <p:sp>
        <p:nvSpPr>
          <p:cNvPr id="14" name="Text 11"/>
          <p:cNvSpPr/>
          <p:nvPr/>
        </p:nvSpPr>
        <p:spPr>
          <a:xfrm>
            <a:off x="2194560" y="3782973"/>
            <a:ext cx="6217920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Training AI agents through rewards and penalties.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257300" y="4994196"/>
            <a:ext cx="731520" cy="22860"/>
          </a:xfrm>
          <a:prstGeom prst="roundRect">
            <a:avLst>
              <a:gd name="adj" fmla="val 384030"/>
            </a:avLst>
          </a:prstGeom>
          <a:solidFill>
            <a:srgbClr val="BDB8DF"/>
          </a:solidFill>
          <a:ln/>
        </p:spPr>
      </p:sp>
      <p:sp>
        <p:nvSpPr>
          <p:cNvPr id="16" name="Shape 13"/>
          <p:cNvSpPr/>
          <p:nvPr/>
        </p:nvSpPr>
        <p:spPr>
          <a:xfrm>
            <a:off x="809863" y="4770477"/>
            <a:ext cx="470297" cy="470297"/>
          </a:xfrm>
          <a:prstGeom prst="roundRect">
            <a:avLst>
              <a:gd name="adj" fmla="val 18667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55834" y="4848820"/>
            <a:ext cx="178356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3</a:t>
            </a:r>
            <a:endParaRPr lang="en-US" sz="2450" dirty="0"/>
          </a:p>
        </p:txBody>
      </p:sp>
      <p:sp>
        <p:nvSpPr>
          <p:cNvPr id="18" name="Text 15"/>
          <p:cNvSpPr/>
          <p:nvPr/>
        </p:nvSpPr>
        <p:spPr>
          <a:xfrm>
            <a:off x="2194560" y="4744283"/>
            <a:ext cx="2626519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Hierarchical Planning</a:t>
            </a:r>
            <a:endParaRPr lang="en-US" sz="2050" dirty="0"/>
          </a:p>
        </p:txBody>
      </p:sp>
      <p:sp>
        <p:nvSpPr>
          <p:cNvPr id="19" name="Text 16"/>
          <p:cNvSpPr/>
          <p:nvPr/>
        </p:nvSpPr>
        <p:spPr>
          <a:xfrm>
            <a:off x="2194560" y="5196126"/>
            <a:ext cx="6217920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Organizing tasks and actions into a multi-level hierarchy.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257300" y="6407348"/>
            <a:ext cx="731520" cy="22860"/>
          </a:xfrm>
          <a:prstGeom prst="roundRect">
            <a:avLst>
              <a:gd name="adj" fmla="val 384030"/>
            </a:avLst>
          </a:prstGeom>
          <a:solidFill>
            <a:srgbClr val="BDB8DF"/>
          </a:solidFill>
          <a:ln/>
        </p:spPr>
      </p:sp>
      <p:sp>
        <p:nvSpPr>
          <p:cNvPr id="21" name="Shape 18"/>
          <p:cNvSpPr/>
          <p:nvPr/>
        </p:nvSpPr>
        <p:spPr>
          <a:xfrm>
            <a:off x="809863" y="6183630"/>
            <a:ext cx="470297" cy="470297"/>
          </a:xfrm>
          <a:prstGeom prst="roundRect">
            <a:avLst>
              <a:gd name="adj" fmla="val 18667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48928" y="6261973"/>
            <a:ext cx="192167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4</a:t>
            </a:r>
            <a:endParaRPr lang="en-US" sz="2450" dirty="0"/>
          </a:p>
        </p:txBody>
      </p:sp>
      <p:sp>
        <p:nvSpPr>
          <p:cNvPr id="23" name="Text 20"/>
          <p:cNvSpPr/>
          <p:nvPr/>
        </p:nvSpPr>
        <p:spPr>
          <a:xfrm>
            <a:off x="2194560" y="6157436"/>
            <a:ext cx="3141702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Multi-Agent Coordination</a:t>
            </a:r>
            <a:endParaRPr lang="en-US" sz="2050" dirty="0"/>
          </a:p>
        </p:txBody>
      </p:sp>
      <p:sp>
        <p:nvSpPr>
          <p:cNvPr id="24" name="Text 21"/>
          <p:cNvSpPr/>
          <p:nvPr/>
        </p:nvSpPr>
        <p:spPr>
          <a:xfrm>
            <a:off x="2194560" y="6609278"/>
            <a:ext cx="6217920" cy="668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Enabling multiple AI agents to work together towards a common goal.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26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6746" y="500301"/>
            <a:ext cx="7870508" cy="1137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Challenges and Considerations in Implementing Agentic AI</a:t>
            </a:r>
            <a:endParaRPr lang="en-US" sz="35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746" y="1910239"/>
            <a:ext cx="909638" cy="145553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819275" y="2092166"/>
            <a:ext cx="2274332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Ethical Implications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1819275" y="2485430"/>
            <a:ext cx="6687979" cy="290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Bias, accountability, and responsible development.</a:t>
            </a:r>
            <a:endParaRPr lang="en-US" sz="14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46" y="3365778"/>
            <a:ext cx="909638" cy="145553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819275" y="3547705"/>
            <a:ext cx="2752130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Data Privacy and Security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1819275" y="3940969"/>
            <a:ext cx="6687979" cy="290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Safeguarding sensitive data and preventing misuse.</a:t>
            </a:r>
            <a:endParaRPr lang="en-US" sz="14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746" y="4821317"/>
            <a:ext cx="909638" cy="145553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819275" y="5003244"/>
            <a:ext cx="3428881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Explainability and Transparency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1819275" y="5396508"/>
            <a:ext cx="6687979" cy="290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Understanding how AI systems make decisions.</a:t>
            </a:r>
            <a:endParaRPr lang="en-US" sz="14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746" y="6276856"/>
            <a:ext cx="909638" cy="145553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819275" y="6458783"/>
            <a:ext cx="3153966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Integration and Compatibility</a:t>
            </a:r>
            <a:endParaRPr lang="en-US" sz="1750" dirty="0"/>
          </a:p>
        </p:txBody>
      </p:sp>
      <p:sp>
        <p:nvSpPr>
          <p:cNvPr id="15" name="Text 8"/>
          <p:cNvSpPr/>
          <p:nvPr/>
        </p:nvSpPr>
        <p:spPr>
          <a:xfrm>
            <a:off x="1819275" y="6852047"/>
            <a:ext cx="6687979" cy="290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Seamlessly integrating AI systems with existing infrastructure.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00294"/>
            <a:ext cx="1206638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The Future of Agentic AI and Emerging Trends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8759" y="2562701"/>
            <a:ext cx="1291233" cy="8079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99071" y="2827020"/>
            <a:ext cx="110609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926806" y="2789515"/>
            <a:ext cx="32579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Human-AI Collaboration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756666" y="3383756"/>
            <a:ext cx="9023271" cy="15240"/>
          </a:xfrm>
          <a:prstGeom prst="roundRect">
            <a:avLst>
              <a:gd name="adj" fmla="val 625116"/>
            </a:avLst>
          </a:prstGeom>
          <a:solidFill>
            <a:srgbClr val="BDB8D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3203" y="3427333"/>
            <a:ext cx="2582466" cy="80795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972758" y="3604498"/>
            <a:ext cx="163235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572482" y="3654147"/>
            <a:ext cx="313074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Augmented Intelligence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5402342" y="4248388"/>
            <a:ext cx="8377595" cy="15240"/>
          </a:xfrm>
          <a:prstGeom prst="roundRect">
            <a:avLst>
              <a:gd name="adj" fmla="val 625116"/>
            </a:avLst>
          </a:prstGeom>
          <a:solidFill>
            <a:srgbClr val="BDB8DF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7527" y="4291965"/>
            <a:ext cx="3873698" cy="80795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973592" y="4469130"/>
            <a:ext cx="161330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6218039" y="4518779"/>
            <a:ext cx="38870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Empowered Decision-Making</a:t>
            </a:r>
            <a:endParaRPr lang="en-US" sz="2200" dirty="0"/>
          </a:p>
        </p:txBody>
      </p:sp>
      <p:sp>
        <p:nvSpPr>
          <p:cNvPr id="14" name="Shape 9"/>
          <p:cNvSpPr/>
          <p:nvPr/>
        </p:nvSpPr>
        <p:spPr>
          <a:xfrm>
            <a:off x="6047899" y="5113020"/>
            <a:ext cx="7732038" cy="15240"/>
          </a:xfrm>
          <a:prstGeom prst="roundRect">
            <a:avLst>
              <a:gd name="adj" fmla="val 625116"/>
            </a:avLst>
          </a:prstGeom>
          <a:solidFill>
            <a:srgbClr val="BDB8DF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1970" y="5156597"/>
            <a:ext cx="5164931" cy="80795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967520" y="5333762"/>
            <a:ext cx="173712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1"/>
          <p:cNvSpPr/>
          <p:nvPr/>
        </p:nvSpPr>
        <p:spPr>
          <a:xfrm>
            <a:off x="6863715" y="5383411"/>
            <a:ext cx="23720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Adaptive Systems</a:t>
            </a:r>
            <a:endParaRPr lang="en-US" sz="2200" dirty="0"/>
          </a:p>
        </p:txBody>
      </p:sp>
      <p:sp>
        <p:nvSpPr>
          <p:cNvPr id="18" name="Shape 12"/>
          <p:cNvSpPr/>
          <p:nvPr/>
        </p:nvSpPr>
        <p:spPr>
          <a:xfrm>
            <a:off x="6693575" y="5977652"/>
            <a:ext cx="7086362" cy="15240"/>
          </a:xfrm>
          <a:prstGeom prst="roundRect">
            <a:avLst>
              <a:gd name="adj" fmla="val 625116"/>
            </a:avLst>
          </a:prstGeom>
          <a:solidFill>
            <a:srgbClr val="BDB8DF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94" y="6021229"/>
            <a:ext cx="6456164" cy="80795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973830" y="6198394"/>
            <a:ext cx="160973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5</a:t>
            </a:r>
            <a:endParaRPr lang="en-US" sz="2200" dirty="0"/>
          </a:p>
        </p:txBody>
      </p:sp>
      <p:sp>
        <p:nvSpPr>
          <p:cNvPr id="21" name="Text 14"/>
          <p:cNvSpPr/>
          <p:nvPr/>
        </p:nvSpPr>
        <p:spPr>
          <a:xfrm>
            <a:off x="7509272" y="6248043"/>
            <a:ext cx="298704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Intelligent Automation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2025-01-29T02:05:30Z</dcterms:created>
  <dcterms:modified xsi:type="dcterms:W3CDTF">2025-01-29T02:05:30Z</dcterms:modified>
</cp:coreProperties>
</file>